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37160" cy="3840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AgriShield (کسان دوست)</a:t>
            </a:r>
          </a:p>
          <a:p>
            <a:pPr>
              <a:spcAft>
                <a:spcPts val="1600"/>
              </a:spcAft>
              <a:defRPr sz="2000">
                <a:solidFill>
                  <a:srgbClr val="10B981"/>
                </a:solidFill>
              </a:defRPr>
            </a:pPr>
            <a:r>
              <a:t>AI-Driven Plant Pathology Diagnostic &amp; Agronomic Decision Support System</a:t>
            </a:r>
          </a:p>
          <a:p>
            <a:pPr>
              <a:spcAft>
                <a:spcPts val="2000"/>
              </a:spcAft>
              <a:defRPr sz="1300">
                <a:solidFill>
                  <a:srgbClr val="D1FAE5"/>
                </a:solidFill>
              </a:defRPr>
            </a:pPr>
            <a:r>
              <a:t>Empowering 8+ Million Pakistani smallholder farmers with sub-15ms edge computer vision, Explainable AI lesion heatmaps, 4-language voice guidance (Urdu, Pashto, Sindhi, English), and localized agrochemical prescription math.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FastAPI Backend  |  Next.js 14 Frontend  |  ONNX Runtime CPU Engine  |  ReportLab PDF Prescriptions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</a:defRPr>
            </a:pPr>
            <a:r>
              <a:t>CONTEXT &amp; MACROECONOMICS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Agricultural Crisis: Catastrophic Yield Losses in Pakistan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Agriculture drives 22.9% of Pakistan's GDP and employs 37.4% of the workforce, yet suffers immense preventable disease losses.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47857"/>
                </a:solidFill>
              </a:defRPr>
            </a:pPr>
            <a:r>
              <a:t>PKR 345B – 523B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Annual Economic Loss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Devastating annual revenue loss across major cash crops (Cotton, Wheat, Rice, Sugarcane).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Post-harvest rots and field blights directly undermine national export revenue.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Increases national food import bills to offset preventable supply deficits.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47857"/>
                </a:solidFill>
              </a:defRPr>
            </a:pPr>
            <a:r>
              <a:t>Up to 40% Yield Loss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High-Value Produce Threat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Vegetable &amp; fruit growers suffer the sharpest financial blow from rapid fungal outbreaks.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Tomato early/late blight, citrus canker, and potato blight wipe out entire harvests in days.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Lack of early detection turns localized leaf infections into field-wide epidemics.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0876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47857"/>
                </a:solidFill>
              </a:defRPr>
            </a:pPr>
            <a:r>
              <a:t>1 : 2,500+ Ratio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Extension Expert Shortage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Government extension officers are overwhelmed, covering dozens of dispersed villages.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Field visits occur days or weeks after symptoms first emerge—far too late for containment.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Smallholder farmers are left with visual guesswork and conflicting dealer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</a:defRPr>
            </a:pPr>
            <a:r>
              <a:t>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4 Core Bottlenecks That Keep Farmers Trapped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Why traditional agricultural extension and existing global digital apps fail Pakistani smallholder farmers.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1. Diagnostic Latency &amp; Pathogen Kinetics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Fungal pathogens (e.g., Phytophthora infestans, Rust) have exponential spore incubation cycles. Visual inspection delays of 3-5 days allow fungal mycelium to penetrate internal leaf vasculature, making curative treatments ineffective.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0876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2. The Linguistic &amp; Literacy Exclusion Barrier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Over 60% of rural Pakistani farmers cannot read English or technical botanical nomenclature. Conventional digital apps displaying English text like 'Alternaria Solani' alienate farmers in rural Sindh, Khyber Pakhtunkhwa, and Southern Punjab.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79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23359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3. Indiscriminate Agrochemical Overuse &amp; Poisoning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Lacking precise diagnosis, farmers purchase speculative 'cocktails' of multiple broad-spectrum pesticides. This leads to pesticide resistance, destroys beneficial predatory insects, poisons rural groundwater, and drives farmer debt.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79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23359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4. Spray Dosage &amp; Land Unit Conversion Chaos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Chemical bottles provide generic instructions (e.g., '1.5 kg/hectare'). Smallholders operate in Acres, Kanals, and Marlas with 20-Liter knapsack tanks. Improper dilution leads to leaf phytotoxicity burns or ineffective sub-lethal doses.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AgriShield: An Intelligent End-to-End Decision Support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Transforming a simple smartphone into an instant, trustworthy, and multilingual digital agronomist.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47857"/>
                </a:solidFill>
              </a:defRPr>
            </a:pPr>
            <a:r>
              <a:t>Instant Vision AI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Sub-15ms on-device neural inference across 38+ plant disease classes covering Pakistan's primary staple &amp; cash crops.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47857"/>
                </a:solidFill>
              </a:defRPr>
            </a:pPr>
            <a:r>
              <a:t>Explainable AI (XAI)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Grad-CAM visual attention heatmaps show exactly where leaf lesions are detected, establishing immediate farmer trust.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087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69164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47857"/>
                </a:solidFill>
              </a:defRPr>
            </a:pPr>
            <a:r>
              <a:t>Voice-First Design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Native dual-engine speech synthesis reads complete diagnoses, safety rules, and recipes in Urdu, Pashto, Sindhi &amp; English.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59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47857"/>
                </a:solidFill>
              </a:defRPr>
            </a:pPr>
            <a:r>
              <a:t>Pakistani Trade Brands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Prescribes exact registered market brands (Syngenta, Bayer, FMC) alongside low-cost organic remedies.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840479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023359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47857"/>
                </a:solidFill>
              </a:defRPr>
            </a:pPr>
            <a:r>
              <a:t>Precision Tank Math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Automated dosage converter turns Acres, Kanals &amp; Marlas into exact 20L knapsack tanks &amp; grams per tank.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840479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59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47857"/>
                </a:solidFill>
              </a:defRPr>
            </a:pPr>
            <a:r>
              <a:t>Verified Digital Slip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1-Click bilingual PDF prescription slip and 1-tap WhatsApp consultation bridge with agricultural extension officers.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</a:defRPr>
            </a:pPr>
            <a:r>
              <a:t>AI &amp; MACHINE LEARNING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Edge Computer Vision &amp; High-Speed Inference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Engineered for sub-15ms response times on commodity hardware and offline rural edge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47857"/>
                </a:solidFill>
              </a:defRPr>
            </a:pPr>
            <a:r>
              <a:t>MobileNetV3-Large Architecture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Hardware-Aware NAS (Neural Architecture Search) backbone optimized for low-latency mobile and edge inference.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Hardswish activation functions and squeeze-and-excitation (SE) attention modules to capture fine-grained leaf pathology textures.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Custom classification head trained on 38+ plant disease classes covering Cotton, Wheat, Rice, Tomato, Potato, Citrus, Apple, etc.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47857"/>
                </a:solidFill>
              </a:defRPr>
            </a:pPr>
            <a:r>
              <a:t>ONNX Runtime C++ Engine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Executes native Open Neural Network Exchange (ONNX) graph on CPU with zero heavy framework overhead.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Achieves sub-15ms inference latency per frame—10x faster than traditional cloud-based computer vision APIs.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Full compatibility with Python 3.14+, ARM64 edge devices, and offline Progressive Web Apps (PWAs).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47857"/>
                </a:solidFill>
              </a:defRPr>
            </a:pPr>
            <a:r>
              <a:t>Image Processing Pipeline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High-precision bilinear image resizing to standard 224x224 RGB input tensors.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Standardized ImageNet normalization: Mean [0.485, 0.456, 0.406] and Std [0.229, 0.224, 0.225].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Multi-class Softmax probability distribution outputting ranked Top-5 prediction confidence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</a:defRPr>
            </a:pPr>
            <a:r>
              <a:t>SECURITY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Biological Guardrail: Eliminating Out-of-Distribution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A pre-inference verification layer preventing hallucinations when non-crop images (cars, faces, blank screens) are uploaded.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47857"/>
                </a:solidFill>
              </a:defRPr>
            </a:pPr>
            <a:r>
              <a:t>HSV Color Spectrum Masks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t>Chlorophyll &amp; Lesion Validation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Converts RGB to HSV and calculates percentage of biological plant foliage:</a:t>
            </a:r>
            <a:br/>
            <a:r>
              <a:t>• Healthy Chlorophyll: H in [35°, 160°]</a:t>
            </a:r>
            <a:br/>
            <a:r>
              <a:t>• Chlorotic / Yellowing: H in [20°, 45°]</a:t>
            </a:r>
            <a:br/>
            <a:r>
              <a:t>• Necrotic Rust Brown: H in [8°, 30°]</a:t>
            </a:r>
            <a:br/>
            <a:r>
              <a:t>Rejects images with &lt;12% foliage ratio.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47857"/>
                </a:solidFill>
              </a:defRPr>
            </a:pPr>
            <a:r>
              <a:t>Texture Variance Analysis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t>Blank &amp; Flat Image Rejection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Computes pixel intensity standard deviation (sigma) across 128x128 downsampled matrices. Rejects flat surfaces, lens caps, completely dark frames, and overexposed blank screens where sigma &lt; 12.0.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47857"/>
                </a:solidFill>
              </a:defRPr>
            </a:pPr>
            <a:r>
              <a:t>Localized HTTP 422 Feedback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t>Multilingual Guidance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Returns structured HTTP 422 with friendly instructions in Urdu, Pashto, Sindhi, and English:</a:t>
            </a:r>
            <a:br/>
            <a:r>
              <a:t>'No plant leaf detected. Please take a clear, close-up photo of a crop leaf.'</a:t>
            </a:r>
            <a:br/>
            <a:r>
              <a:t>Prevents user confusion and false diagnosis.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</a:defRPr>
            </a:pPr>
            <a:r>
              <a:t>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Building Farmer Trust Through Grad-CAM Visual Heatmaps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Solving the 'Black-Box' problem of neural networks by visually proving which leaf lesions triggered the AI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The 'Black Box' Trust Problem in Agriculture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Farmers are naturally skeptical of digital tools. If an algorithm simply outputs 'Early Blight (98%)' without explanation, farmers and extension officers cannot verify whether the AI focused on the diseased spot or background soil.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0876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Gradient-Weighted Class Activation Mapping (Grad-CAM)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AgriShield extracts activation gradients flowing into the final convolutional layer of MobileNetV3. It generates a 2D spatial importance weight matrix corresponding to the predicted disease class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79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23359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Dynamic Color-Coded Thermal Overlay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The activation map is normalized and blended over the original leaf photo:</a:t>
            </a:r>
            <a:br/>
            <a:r>
              <a:t>• Deep Red / Crimson: Areas of primary diagnostic activation (pustules, necrotic lesions, fungal halos).</a:t>
            </a:r>
            <a:br/>
            <a:r>
              <a:t>• Blue / Violet: Unaffected, healthy leaf lamina and background.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79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23359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De-Skilling Clinical Verification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Allows field agronomists, pesticide retailers, and non-literate farmers to visually confirm that the neural network is targeting genuine biological pathology before purchasing expensive treatments.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</a:defRPr>
            </a:pPr>
            <a:r>
              <a:t>AGRONOMIC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Prescriptions Tailored for the Pakistani Agricultural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Bridging the gap between laboratory science and actual commercial products available in Pakistani rural markets.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47857"/>
                </a:solidFill>
              </a:defRPr>
            </a:pPr>
            <a:r>
              <a:t>🧪 Certified Pakistani Trade Brands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Maps diagnoses directly to genuine brands registered with the Federal Department of Plant Protection (DPP).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Syngenta: Ridomil Gold (Mancozeb + Mefenoxam), Score 250 EC (Difenoconazole), Amistar Top.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Bayer: Nativo (Tebuconazole + Trifloxystrobin), Antracol, Movento (Spirotetramat).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FMC &amp; Engro: Steward, Confidor, Curzate, Aliette, Match, Belt.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47857"/>
                </a:solidFill>
              </a:defRPr>
            </a:pPr>
            <a:r>
              <a:t>🌿 Organic &amp; Traditional Bio-Cures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Low-cost, home-made remedies for resource-constrained smallholders and organic growers.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Neem Seed Kernel Extract (NSKE 5%) for sucking insect pests (Whitefly, Aphids, Jassids).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Fermented Sour Lassi (Lactic Acid Bacteria) spray for powdery mildews and fungal blight control.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Wood Ash &amp; Trichoderma biological bio-fungicides to enrich soil and suppress root rots.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47857"/>
                </a:solidFill>
              </a:defRPr>
            </a:pPr>
            <a:r>
              <a:t>⏱️ Pre-Harvest Interval (PHI) Enforcement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Mandatory waiting intervals (e.g., 7 days for Nativo, 14 days for Ridomil Gold) displayed prominently.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Prevents farmers from spraying chemicals immediately before harvesting food crops.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• Directly protects consumer health and complies with national food safety standards.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</a:defRPr>
            </a:pPr>
            <a:r>
              <a:t>FIELD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Dosage Calculator: Converting Acres into 20L Spray Tanks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Eliminating dangerous calculation errors by calculating exact chemical and water volumes for Pakistani land units.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47857"/>
                </a:solidFill>
              </a:defRPr>
            </a:pPr>
            <a:r>
              <a:t>Pakistani Land Standards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t>Traditional Measurement Units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Built specifically for Pakistani land tenure systems:</a:t>
            </a:r>
            <a:br/>
            <a:r>
              <a:t>• 1 Acre (ایکڑ) = 8 Kanals = 160 Marlas</a:t>
            </a:r>
            <a:br/>
            <a:r>
              <a:t>• 1 Kanal (کنال) = 20 Marlas = 0.125 Acre</a:t>
            </a:r>
            <a:br/>
            <a:r>
              <a:t>• 1 Marla (مرلہ) = 272.25 sq ft / 225 sq ft (KPK)</a:t>
            </a:r>
            <a:br/>
            <a:r>
              <a:t>Farmers select their exact land holding size with a single tap.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47857"/>
                </a:solidFill>
              </a:defRPr>
            </a:pPr>
            <a:r>
              <a:t>20-Liter Knapsack Tank Math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t>Standard Farm Equipment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The standard manual spray equipment across Pakistan is the 20-Liter plastic knapsack tank:</a:t>
            </a:r>
            <a:br/>
            <a:r>
              <a:t>• Standard Water Requirement: 100 to 120 Liters per Acre (5 to 6 Tanks)</a:t>
            </a:r>
            <a:br/>
            <a:r>
              <a:t>• Automatic chemical dilution math: Chemical (g/ml) divided across tanks</a:t>
            </a:r>
            <a:br/>
            <a:r>
              <a:t>• Tells farmer: 'Use 2 Tanks with 50g powder in each tank.'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47857"/>
                </a:solidFill>
              </a:defRPr>
            </a:pPr>
            <a:r>
              <a:t>Preventing Crop Damage &amp; Waste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t>Phytotoxicity Prevention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Over-concentration causes leaf scorch, fruit drops, and financial waste.</a:t>
            </a:r>
            <a:br/>
            <a:r>
              <a:t>• Under-concentration causes sub-lethal exposure and fast fungicide resistance.</a:t>
            </a:r>
            <a:br/>
            <a:r>
              <a:t>• AgriShield guarantees calibrated concentration across any plot size.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</a:defRPr>
            </a:pPr>
            <a:r>
              <a:t>LINGUISTIC 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Voice-First Multilingual Accessibility (Urdu, Pashto, Sindhi, English)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Ensuring that non-literate rural farmers can diagnose crops and listen to spoken remedies in their native mother tongue.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4-Language Complete i18n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Full native UI and pathology catalog translated across Urdu (اردو), Pashto (پښتو), Sindhi (سنڌي), and English. Right-to-Left (RTL) layout support with custom Nastaliq typography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0876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Dual-Engine Speech Synthesis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Speech engine combining browser Web Speech API with Google TTS streaming fallback. Automatically pre-loads regional voice synthesizers so non-literate farmers can listen to diagnosis and spray instructions aloud.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79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23359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1-Page Bilingual PDF Prescription Slip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ReportLab vector engine generates an official 1-page printable diagnostic prescription with embedded leaf photo, Grad-CAM heatmap, dosage chart, and PHI interval for pesticide dealers.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79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23359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1-Tap WhatsApp Agronomist Bridge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Direct WhatsApp integration that pre-formats the diagnosis, confidence score, and photo into a pre-filled chat message for local agricultural extension officers and university agronomists.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</a:defRPr>
            </a:pPr>
            <a:r>
              <a:t>QUANTIFIABLE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Tangible Socio-Economic &amp; Environmental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Measurable benefits across farm revenue, food security, environmental preservation, and social inclusion.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47857"/>
                </a:solidFill>
              </a:defRPr>
            </a:pPr>
            <a:r>
              <a:t>💰 Economic Prosperity (ROI)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30% to 50% Pesticide Cost Reduction: Eliminates speculative buying of wrong chemical cocktails.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35% Crop Yield Protection: Immediate containment of localized blights prevents field abandonment.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PKR 45,000 to 80,000 per Acre Estimated Net Savings for cotton, tomato, and potato smallholders.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47857"/>
                </a:solidFill>
              </a:defRPr>
            </a:pPr>
            <a:r>
              <a:t>🌱 Environmental &amp; Health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Reduced Chemical Runoff: Targeted spraying prevents pesticide infiltration into irrigation canals.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Preserves Beneficial Insects: Organic biological alternatives protect ladybugs, bees, and soil microbes.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Food Safety Compliance: Enforcing Pre-Harvest Intervals (PHI) eliminates toxic chemical residue on food.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0876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47857"/>
                </a:solidFill>
              </a:defRPr>
            </a:pPr>
            <a:r>
              <a:t>👥 Social Equity &amp; Inclusivity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100% Literacy Accessibility: Voice audio bridges the educational barrier for rural smallholders.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Democratizes Agronomy: Brings clinical-grade pathology directly to remote villages in Sindh, KPK &amp; Punjab.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</a:defRPr>
            </a:pPr>
            <a:r>
              <a:t>• Data-Backed Field Diary: Enables historical tracking of recurring seasonal crop diseases.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</a:defRPr>
            </a:pPr>
            <a:r>
              <a:t>Strategic Roadmap &amp; Vision</a:t>
            </a:r>
          </a:p>
          <a:p>
            <a:pPr>
              <a:spcAft>
                <a:spcPts val="1600"/>
              </a:spcAft>
              <a:defRPr sz="1350" i="1">
                <a:solidFill>
                  <a:srgbClr val="D1FAE5"/>
                </a:solidFill>
              </a:defRPr>
            </a:pPr>
            <a:r>
              <a:t>"AgriShield transforms agricultural pathology from delayed visual guesswork into instant, precise, and voice-guided decision support — safeguarding smallholder livelihoods and strengthening national food security."</a:t>
            </a:r>
          </a:p>
          <a:p>
            <a:pPr>
              <a:spcAft>
                <a:spcPts val="1400"/>
              </a:spcAft>
              <a:defRPr sz="1150">
                <a:solidFill>
                  <a:srgbClr val="F1F5F9"/>
                </a:solidFill>
              </a:defRPr>
            </a:pPr>
            <a:r>
              <a:t>Strategic Roadmap Ahead:</a:t>
            </a:r>
            <a:br/>
            <a:r>
              <a:t>• Phase 1 (Near-Term): Zero-Connectivity PWA with WebAssembly/TFLite Quantization for 100% offline edge execution.</a:t>
            </a:r>
            <a:br/>
            <a:r>
              <a:t>• Phase 2 (Mid-Term): District-Level Outbreak Heatmaps &amp; Epidemiological Tracking for Provincial Extension Departments.</a:t>
            </a:r>
            <a:br/>
            <a:r>
              <a:t>• Phase 3 (Long-Term): Open-Meteo Satellite &amp; Weather Sync to issue proactive 72-hour Fungal Risk Index warnings.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Live Web Application: http://localhost:3000   |   API Documentation: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